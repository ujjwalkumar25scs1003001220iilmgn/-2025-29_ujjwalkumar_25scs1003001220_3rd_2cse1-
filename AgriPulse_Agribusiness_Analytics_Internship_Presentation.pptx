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7"/>
          </a:solidFill>
          <a:ln>
            <a:solidFill>
              <a:srgbClr val="FAF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967728" y="4040"/>
            <a:ext cx="5470855" cy="6858000"/>
          </a:xfrm>
          <a:prstGeom prst="rect">
            <a:avLst/>
          </a:prstGeom>
          <a:solidFill>
            <a:srgbClr val="184E31"/>
          </a:solidFill>
          <a:ln>
            <a:solidFill>
              <a:srgbClr val="184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4" name="Picture 3" descr="university_head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3" y="269748"/>
            <a:ext cx="4617720" cy="9418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581912"/>
            <a:ext cx="52120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 b="1">
                <a:solidFill>
                  <a:srgbClr val="447E4E"/>
                </a:solidFill>
                <a:latin typeface="Aptos"/>
              </a:defRPr>
            </a:pPr>
            <a:r>
              <a:t>AICTE – EDUSKILLS VIRTUAL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598932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400" b="1">
                <a:solidFill>
                  <a:srgbClr val="19271F"/>
                </a:solidFill>
                <a:latin typeface="Aptos"/>
              </a:defRPr>
            </a:pPr>
            <a:r>
              <a:t>Agribusiness Performance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523744"/>
            <a:ext cx="60807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250" b="1">
                <a:solidFill>
                  <a:srgbClr val="447E4E"/>
                </a:solidFill>
                <a:latin typeface="Aptos"/>
              </a:defRPr>
            </a:pPr>
            <a:r>
              <a:rPr dirty="0" err="1"/>
              <a:t>AgriPulse</a:t>
            </a:r>
            <a:r>
              <a:rPr dirty="0"/>
              <a:t> – 4-Week Professional Internship Presentation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20116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 b="1">
                <a:solidFill>
                  <a:srgbClr val="447E4E"/>
                </a:solidFill>
                <a:latin typeface="Aptos"/>
              </a:defRPr>
            </a:pPr>
            <a:r>
              <a:t>INTERNSHIP 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64608"/>
            <a:ext cx="2664832" cy="192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250" b="1">
                <a:solidFill>
                  <a:srgbClr val="19271F"/>
                </a:solidFill>
                <a:latin typeface="Aptos"/>
              </a:defRPr>
            </a:pPr>
            <a:r>
              <a:rPr lang="en-US" dirty="0"/>
              <a:t>29 </a:t>
            </a:r>
            <a:r>
              <a:rPr dirty="0"/>
              <a:t>June 2026 – </a:t>
            </a:r>
            <a:r>
              <a:rPr lang="en-US" dirty="0"/>
              <a:t>26 </a:t>
            </a:r>
            <a:r>
              <a:rPr dirty="0"/>
              <a:t>July 2026 (4 Weeks)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068312" y="347472"/>
            <a:ext cx="3383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 b="1">
                <a:solidFill>
                  <a:srgbClr val="97C668"/>
                </a:solidFill>
                <a:latin typeface="Aptos"/>
              </a:defRPr>
            </a:pPr>
            <a:r>
              <a:t>STUDENT CREDENTIALS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800100"/>
            <a:ext cx="4800600" cy="1417320"/>
          </a:xfrm>
          <a:prstGeom prst="roundRect">
            <a:avLst/>
          </a:prstGeom>
          <a:solidFill>
            <a:srgbClr val="27563D"/>
          </a:solidFill>
          <a:ln>
            <a:solidFill>
              <a:srgbClr val="467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242048" y="932688"/>
            <a:ext cx="4160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F4FAEF"/>
                </a:solidFill>
                <a:latin typeface="Aptos"/>
              </a:defRPr>
            </a:pPr>
            <a:r>
              <a:t>Ujjwal Kumar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1417320"/>
            <a:ext cx="1742465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 b="1">
                <a:solidFill>
                  <a:srgbClr val="DCEECA"/>
                </a:solidFill>
                <a:latin typeface="Aptos"/>
              </a:defRPr>
            </a:pPr>
            <a:r>
              <a:rPr dirty="0"/>
              <a:t>ROLL NO.</a:t>
            </a:r>
            <a:r>
              <a:rPr lang="en-US" dirty="0"/>
              <a:t>                                   SECTION.</a:t>
            </a:r>
          </a:p>
          <a:p>
            <a:pPr algn="l">
              <a:defRPr sz="850" b="1">
                <a:solidFill>
                  <a:srgbClr val="DCEECA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242048" y="1609344"/>
            <a:ext cx="1707199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1">
                <a:solidFill>
                  <a:srgbClr val="F4FAEF"/>
                </a:solidFill>
                <a:latin typeface="Aptos"/>
              </a:defRPr>
            </a:pPr>
            <a:r>
              <a:rPr dirty="0"/>
              <a:t>25SCS1003001220</a:t>
            </a:r>
            <a:r>
              <a:rPr lang="en-US" dirty="0"/>
              <a:t>       2CSE1</a:t>
            </a:r>
          </a:p>
          <a:p>
            <a:pPr algn="l">
              <a:defRPr sz="1050" b="1">
                <a:solidFill>
                  <a:srgbClr val="F4FAEF"/>
                </a:solidFill>
                <a:latin typeface="Aptos"/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372600" y="1417320"/>
            <a:ext cx="914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 b="1">
                <a:solidFill>
                  <a:srgbClr val="DCEECA"/>
                </a:solidFill>
                <a:latin typeface="Aptos"/>
              </a:defRPr>
            </a:pPr>
            <a:r>
              <a:t>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609344"/>
            <a:ext cx="1384995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1">
                <a:solidFill>
                  <a:srgbClr val="F4FAEF"/>
                </a:solidFill>
                <a:latin typeface="Aptos"/>
              </a:defRPr>
            </a:pPr>
            <a:r>
              <a:rPr dirty="0"/>
              <a:t>B Tech (CSE)</a:t>
            </a:r>
            <a:r>
              <a:rPr lang="en-US" dirty="0"/>
              <a:t>     		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C2D"/>
          </a:solidFill>
          <a:ln>
            <a:solidFill>
              <a:srgbClr val="184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D4A017"/>
                </a:solidFill>
              </a:defRPr>
            </a:pPr>
            <a:r>
              <a:rPr dirty="0"/>
              <a:t>AGRIBUSINESS PERFORMANCE ANALYTICS</a:t>
            </a:r>
          </a:p>
          <a:p>
            <a:pPr>
              <a:spcAft>
                <a:spcPts val="1000"/>
              </a:spcAft>
              <a:defRPr sz="5400" b="1">
                <a:solidFill>
                  <a:srgbClr val="FFFFFF"/>
                </a:solidFill>
              </a:defRPr>
            </a:pPr>
            <a:r>
              <a:rPr dirty="0" err="1"/>
              <a:t>AgriPulse</a:t>
            </a:r>
            <a:endParaRPr dirty="0"/>
          </a:p>
          <a:p>
            <a:pPr>
              <a:defRPr sz="2000">
                <a:solidFill>
                  <a:srgbClr val="C8E1CD"/>
                </a:solidFill>
              </a:defRPr>
            </a:pPr>
            <a:r>
              <a:rPr dirty="0"/>
              <a:t>Transforming Agricultural Raw Data into Actionable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Project Type: Data Analytics / Agribusiness Analytics   |   Role: Junior Data Analyst   |   Duration: 4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Project Overview &amp; Key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84C2D"/>
                </a:solidFill>
              </a:defRPr>
            </a:pPr>
            <a:r>
              <a:t>Executive Summary</a:t>
            </a:r>
          </a:p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</a:defRPr>
            </a:pPr>
            <a:r>
              <a:t>AgriPulse is a comprehensive 4-week Agribusiness Data Analytics internship project demonstrating the power of data-driven techniques in modern agriculture.</a:t>
            </a:r>
          </a:p>
          <a:p>
            <a:pPr>
              <a:defRPr sz="1300">
                <a:solidFill>
                  <a:srgbClr val="212121"/>
                </a:solidFill>
              </a:defRPr>
            </a:pPr>
            <a:r>
              <a:t>By capturing end-to-end operational variables, the project focuses on boosting yield productivity, cost efficiency, supply-chain responsiveness, and strategic decision-making.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Yield &amp; Productivity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Monitor crop yield per hectare and total output across diverse plots.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395728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Cost Efficiency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Evaluate production expenses, cost per unit, and gross profit margins.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328416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Market Dynamics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Understand seasonal price trends and volatility for crop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61104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Weather Impacts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Quantify climate, rainfall, and temperature influences on harvest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193792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Supply-Chain Health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Pinpoint storage bottlenecks, inventory turnover, and post-harvest wastage.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4-Week Agribusiness Analytics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WEEK 1</a:t>
            </a:r>
          </a:p>
          <a:p>
            <a:pPr>
              <a:spcAft>
                <a:spcPts val="1400"/>
              </a:spcAft>
              <a:defRPr sz="1400" b="1">
                <a:solidFill>
                  <a:srgbClr val="184C2D"/>
                </a:solidFill>
              </a:defRPr>
            </a:pPr>
            <a:r>
              <a:t>Data Strategy &amp; Planning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Defined business objectives and core domain KPIs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Identified primary &amp; secondary agricultural data sources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Established data governance &amp; 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WEEK 2</a:t>
            </a:r>
          </a:p>
          <a:p>
            <a:pPr>
              <a:spcAft>
                <a:spcPts val="1400"/>
              </a:spcAft>
              <a:defRPr sz="1400" b="1">
                <a:solidFill>
                  <a:srgbClr val="184C2D"/>
                </a:solidFill>
              </a:defRPr>
            </a:pPr>
            <a:r>
              <a:t>Acquisition &amp; Preprocessing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Structured multi-source data ingestion pipeline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Handled missing values and eliminated duplicate records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Normalized metrics &amp; performed Z-score outlier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WEEK 3</a:t>
            </a:r>
          </a:p>
          <a:p>
            <a:pPr>
              <a:spcAft>
                <a:spcPts val="1400"/>
              </a:spcAft>
              <a:defRPr sz="1400" b="1">
                <a:solidFill>
                  <a:srgbClr val="184C2D"/>
                </a:solidFill>
              </a:defRPr>
            </a:pPr>
            <a:r>
              <a:t>Analysis &amp; Visualization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Exploratory &amp; statistical analysis on crop performance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Yield vs. cost correlation &amp; market price trend modeling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Designed static charts and interactive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WEEK 4</a:t>
            </a:r>
          </a:p>
          <a:p>
            <a:pPr>
              <a:spcAft>
                <a:spcPts val="1400"/>
              </a:spcAft>
              <a:defRPr sz="1400" b="1">
                <a:solidFill>
                  <a:srgbClr val="184C2D"/>
                </a:solidFill>
              </a:defRPr>
            </a:pPr>
            <a:r>
              <a:t>Evaluation &amp; Improvement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KPI tracking &amp; performance benchmark comparison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Formulated action items for supply chain &amp; crop selection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Defined automated alerts &amp; long-term platform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Data Engineering &amp;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583680" cy="475488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184C2D"/>
                </a:solidFill>
              </a:defRPr>
            </a:pPr>
            <a:r>
              <a:t>Data Preprocessing Workflow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1. Data Ingestion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Collected disparate datasets across crop yields, market rates, weather logs, and logistics.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2. Cleaning &amp; Imputation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Resolved missing data using median values and removed identical duplicate entries.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3. Validation &amp; Quality Assurance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Verified logical range bounds (e.g., non-negative yields, valid pH values).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4. Normalization &amp; Scaling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Applied MinMax and Standard scaling for consistent statistical comparison.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5. Outlier Detection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Leveraged Z-Score and Interquartile Range (IQR) filtering to handle anomalies.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184C2D"/>
          </a:solidFill>
          <a:ln>
            <a:solidFill>
              <a:srgbClr val="184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D4A017"/>
                </a:solidFill>
              </a:defRPr>
            </a:pPr>
            <a:r>
              <a:t>Technologies &amp; Tools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Python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Core language for data processing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Pandas &amp; NumPy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Data manipulation &amp; numerical computation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Matplotlib &amp; Seaborn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Static data visualization &amp; plotting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Streamlit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Interactive web dashboard interface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Git &amp; GitHub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Version control &amp; portfolio hosting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Excel / Word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Documentation &amp; baseline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4C2D"/>
                </a:solidFill>
              </a:defRPr>
            </a:pPr>
            <a:r>
              <a:t>Production &amp; Yield Metrics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Yield per Hectare: </a:t>
            </a:r>
            <a:r>
              <a:rPr b="0">
                <a:solidFill>
                  <a:srgbClr val="212121"/>
                </a:solidFill>
              </a:rPr>
              <a:t>Measures land productivity and soil health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Production Quantity: </a:t>
            </a:r>
            <a:r>
              <a:rPr b="0">
                <a:solidFill>
                  <a:srgbClr val="212121"/>
                </a:solidFill>
              </a:rPr>
              <a:t>Total harvest output in metric tons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4C2D"/>
                </a:solidFill>
              </a:defRPr>
            </a:pPr>
            <a:r>
              <a:t>Financial &amp; Cost Metrics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Production Cost: </a:t>
            </a:r>
            <a:r>
              <a:rPr b="0">
                <a:solidFill>
                  <a:srgbClr val="212121"/>
                </a:solidFill>
              </a:rPr>
              <a:t>Total input costs (fertilizers, labor, seeds)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Cost per Unit: </a:t>
            </a:r>
            <a:r>
              <a:rPr b="0">
                <a:solidFill>
                  <a:srgbClr val="212121"/>
                </a:solidFill>
              </a:rPr>
              <a:t>Unit economics per ton produced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Revenue &amp; Gross Margin: </a:t>
            </a:r>
            <a:r>
              <a:rPr b="0">
                <a:solidFill>
                  <a:srgbClr val="212121"/>
                </a:solidFill>
              </a:rPr>
              <a:t>Profitability across crop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4C2D"/>
                </a:solidFill>
              </a:defRPr>
            </a:pPr>
            <a:r>
              <a:t>Supply Chain &amp; Operational Metrics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Inventory Turnover: </a:t>
            </a:r>
            <a:r>
              <a:rPr b="0">
                <a:solidFill>
                  <a:srgbClr val="212121"/>
                </a:solidFill>
              </a:rPr>
              <a:t>Efficiency of stock movement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Wastage Rate: </a:t>
            </a:r>
            <a:r>
              <a:rPr b="0">
                <a:solidFill>
                  <a:srgbClr val="212121"/>
                </a:solidFill>
              </a:rPr>
              <a:t>Post-harvest loss percentage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Delivery Performance: </a:t>
            </a:r>
            <a:r>
              <a:rPr b="0">
                <a:solidFill>
                  <a:srgbClr val="212121"/>
                </a:solidFill>
              </a:rPr>
              <a:t>On-time distribution fulfillment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4C2D"/>
                </a:solidFill>
              </a:defRPr>
            </a:pPr>
            <a:r>
              <a:t>Market &amp; Climate Metrics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Market Price Variation: </a:t>
            </a:r>
            <a:r>
              <a:rPr b="0">
                <a:solidFill>
                  <a:srgbClr val="212121"/>
                </a:solidFill>
              </a:rPr>
              <a:t>Track wholesale price shifts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Weather Impact Score: </a:t>
            </a:r>
            <a:r>
              <a:rPr b="0">
                <a:solidFill>
                  <a:srgbClr val="212121"/>
                </a:solidFill>
              </a:rPr>
              <a:t>Correlation with rainfall &amp; temperature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Key Analytical Insights &amp;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D4A017"/>
                </a:solidFill>
              </a:defRPr>
            </a:pPr>
            <a:r>
              <a:t>INPUT OPTIMIZATION</a:t>
            </a:r>
          </a:p>
          <a:p>
            <a:pPr>
              <a:spcAft>
                <a:spcPts val="800"/>
              </a:spcAft>
              <a:defRPr sz="1500" b="1">
                <a:solidFill>
                  <a:srgbClr val="184C2D"/>
                </a:solidFill>
              </a:defRPr>
            </a:pPr>
            <a:r>
              <a:t>Cost vs. Yield Trade-offs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Statistical profiling demonstrated that increasing input expenditure beyond optimal thresholds yields diminishing returns in crop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219456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D4A017"/>
                </a:solidFill>
              </a:defRPr>
            </a:pPr>
            <a:r>
              <a:t>CLIMATE RESILIENCE</a:t>
            </a:r>
          </a:p>
          <a:p>
            <a:pPr>
              <a:spcAft>
                <a:spcPts val="800"/>
              </a:spcAft>
              <a:defRPr sz="1500" b="1">
                <a:solidFill>
                  <a:srgbClr val="184C2D"/>
                </a:solidFill>
              </a:defRPr>
            </a:pPr>
            <a:r>
              <a:t>Weather Vulnerability Mapping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Correlation analysis highlighted significant yield variances during unseasonal temperature spikes, emphasizing irrigation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D4A017"/>
                </a:solidFill>
              </a:defRPr>
            </a:pPr>
            <a:r>
              <a:t>SUPPLY CHAIN EFFICIENCY</a:t>
            </a:r>
          </a:p>
          <a:p>
            <a:pPr>
              <a:spcAft>
                <a:spcPts val="800"/>
              </a:spcAft>
              <a:defRPr sz="1500" b="1">
                <a:solidFill>
                  <a:srgbClr val="184C2D"/>
                </a:solidFill>
              </a:defRPr>
            </a:pPr>
            <a:r>
              <a:t>Wastage Reduction Targets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Inventory data revealed that delivery delays over 48 hours increased post-harvest wastage rates by over 15%.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303520" cy="219456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D4A017"/>
                </a:solidFill>
              </a:defRPr>
            </a:pPr>
            <a:r>
              <a:t>STRATEGIC TIMING</a:t>
            </a:r>
          </a:p>
          <a:p>
            <a:pPr>
              <a:spcAft>
                <a:spcPts val="800"/>
              </a:spcAft>
              <a:defRPr sz="1500" b="1">
                <a:solidFill>
                  <a:srgbClr val="184C2D"/>
                </a:solidFill>
              </a:defRPr>
            </a:pPr>
            <a:r>
              <a:t>Market Price Dynamics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Historical price variations indicated predictable high-margin seasonal windows for selling key cash crops.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Process Recommendations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184C2D"/>
                </a:solidFill>
              </a:defRPr>
            </a:pPr>
            <a:r>
              <a:t>Actionable Recommendations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✔ Crop &amp; Input Planning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Reallocate inputs toward high-margin crops and adjust localized fertilizer usage.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✔ Inventory Control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Adopt Just-In-Time storage protocols to reduce transit delay and post-harvest decay.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✔ Market Synchronization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Align harvest timelines with predicted peak-market price windows.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✔ Data Quality Protocols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Standardize field-level data collection for higher analytical reliability.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84C2D"/>
          </a:solidFill>
          <a:ln>
            <a:solidFill>
              <a:srgbClr val="184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D4A017"/>
                </a:solidFill>
              </a:defRPr>
            </a:pPr>
            <a:r>
              <a:t>Future Scope &amp; Platform Growth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Machine Learning yield prediction &amp; crop demand forecasting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Weather-risk analysis &amp; automated price prediction models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Satellite and remote-sensing IoT data integration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Automated real-time KPI alerts &amp; logistics route optimization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Full-scale interactive cloud dashboards (Streamlit / Power BI)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C2D"/>
          </a:solidFill>
          <a:ln>
            <a:solidFill>
              <a:srgbClr val="184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4A017"/>
                </a:solidFill>
              </a:defRPr>
            </a:pPr>
            <a:r>
              <a:rPr dirty="0"/>
              <a:t>PROJECT OUTCOME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rPr dirty="0"/>
              <a:t>Transforming Agribusiness with Data Insights</a:t>
            </a:r>
          </a:p>
          <a:p>
            <a:pPr>
              <a:spcAft>
                <a:spcPts val="3000"/>
              </a:spcAft>
              <a:defRPr sz="1600">
                <a:solidFill>
                  <a:srgbClr val="C8E1CD"/>
                </a:solidFill>
              </a:defRPr>
            </a:pPr>
            <a:r>
              <a:rPr dirty="0" err="1"/>
              <a:t>AgriPulse</a:t>
            </a:r>
            <a:r>
              <a:rPr dirty="0"/>
              <a:t> establishes a solid, scalable framework for turning complex agricultural datasets into actionable business intelligence. Thank you for exploring this project repository!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841</Words>
  <Application>Microsoft Office PowerPoint</Application>
  <PresentationFormat>Widescreen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Ujjwal Kumar</dc:creator>
  <cp:keywords/>
  <dc:description>generated using python-pptx</dc:description>
  <cp:lastModifiedBy>Ujjwal Kumar</cp:lastModifiedBy>
  <cp:revision>3</cp:revision>
  <dcterms:created xsi:type="dcterms:W3CDTF">2013-01-27T09:14:16Z</dcterms:created>
  <dcterms:modified xsi:type="dcterms:W3CDTF">2026-08-26T17:19:52Z</dcterms:modified>
  <cp:category/>
</cp:coreProperties>
</file>